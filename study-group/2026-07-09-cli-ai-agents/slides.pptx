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webextensions/taskpanes.xml" ContentType="application/vnd.ms-office.webextensiontaskpanes+xml"/>
  <Override PartName="/ppt/webextensions/webextension1.xml" ContentType="application/vnd.ms-office.webextension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officeDocument/2006/relationships/officeDocument" Target="ppt/presentation.xml"/><Relationship Id="rId1" Type="http://schemas.microsoft.com/office/2011/relationships/webextensiontaskpanes" Target="ppt/webextensions/taskpanes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7"/>
  </p:notesMasterIdLst>
  <p:sldIdLst>
    <p:sldId id="256" r:id="rId2"/>
    <p:sldId id="257" r:id="rId3"/>
    <p:sldId id="258" r:id="rId4"/>
    <p:sldId id="271" r:id="rId5"/>
    <p:sldId id="260" r:id="rId6"/>
    <p:sldId id="261" r:id="rId7"/>
    <p:sldId id="272" r:id="rId8"/>
    <p:sldId id="274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2315"/>
    <p:restoredTop sz="94610"/>
  </p:normalViewPr>
  <p:slideViewPr>
    <p:cSldViewPr snapToGrid="0" snapToObjects="1">
      <p:cViewPr varScale="1">
        <p:scale>
          <a:sx n="192" d="100"/>
          <a:sy n="192" d="100"/>
        </p:scale>
        <p:origin x="168" y="12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presProps" Target="presProps.xml"/><Relationship Id="rId3" Type="http://schemas.openxmlformats.org/officeDocument/2006/relationships/slide" Target="slides/slide2.xml"/><Relationship Id="rId21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235458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621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120640" y="1051560"/>
            <a:ext cx="3566160" cy="2286000"/>
          </a:xfrm>
          <a:prstGeom prst="roundRect">
            <a:avLst>
              <a:gd name="adj" fmla="val 2800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3" name="Shape 1"/>
          <p:cNvSpPr/>
          <p:nvPr/>
        </p:nvSpPr>
        <p:spPr>
          <a:xfrm>
            <a:off x="5120640" y="1051560"/>
            <a:ext cx="356616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" name="Shape 2"/>
          <p:cNvSpPr/>
          <p:nvPr/>
        </p:nvSpPr>
        <p:spPr>
          <a:xfrm>
            <a:off x="5120640" y="1197864"/>
            <a:ext cx="356616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248656" y="114300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31536" y="114300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614416" y="114300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5852160" y="1051560"/>
            <a:ext cx="26517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terminal — ai-test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321808" y="1435608"/>
            <a:ext cx="3163824" cy="1783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이 폴더의 hwp 파일을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전부 pdf로 바꿔줘</a:t>
            </a: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endParaRPr lang="en-US" sz="13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✓ 3개 변환 완료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48640" y="1234440"/>
            <a:ext cx="44805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채팅창을 넘어서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548640" y="1691640"/>
            <a:ext cx="45720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4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CLI 기반 AI 에이전트 입문</a:t>
            </a:r>
            <a:endParaRPr lang="en-US" sz="3400" dirty="0"/>
          </a:p>
        </p:txBody>
      </p:sp>
      <p:sp>
        <p:nvSpPr>
          <p:cNvPr id="12" name="Text 10"/>
          <p:cNvSpPr/>
          <p:nvPr/>
        </p:nvSpPr>
        <p:spPr>
          <a:xfrm>
            <a:off x="548640" y="2880360"/>
            <a:ext cx="44805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AFC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· Codex · Antigravity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548640" y="434340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8FA5B8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인공지능연구회 소모임  |  2026. 7. 9(목) 17:00  |  다랑쉬 회의실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 1시간의 목표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왕초보 기준, 이 세 가지면 성공입니다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60020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188720" y="15361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 이해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73152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채팅창과 에이전트가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뭐가 다른지 설명할 수 있다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3291840" y="13716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3520440" y="160020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352044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977640" y="15361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성공</a:t>
            </a:r>
            <a:endParaRPr lang="en-US" sz="1700" dirty="0"/>
          </a:p>
        </p:txBody>
      </p:sp>
      <p:sp>
        <p:nvSpPr>
          <p:cNvPr id="13" name="Text 11"/>
          <p:cNvSpPr/>
          <p:nvPr/>
        </p:nvSpPr>
        <p:spPr>
          <a:xfrm>
            <a:off x="352044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구독에 맞는 도구를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노트북에 설치한다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6080760" y="1371600"/>
            <a:ext cx="2606040" cy="1554480"/>
          </a:xfrm>
          <a:prstGeom prst="roundRect">
            <a:avLst>
              <a:gd name="adj" fmla="val 4706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6309360" y="160020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6309360" y="16002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6766560" y="1536192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7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작업 실행</a:t>
            </a:r>
            <a:endParaRPr lang="en-US" sz="1700" dirty="0"/>
          </a:p>
        </p:txBody>
      </p:sp>
      <p:sp>
        <p:nvSpPr>
          <p:cNvPr id="18" name="Text 16"/>
          <p:cNvSpPr/>
          <p:nvPr/>
        </p:nvSpPr>
        <p:spPr>
          <a:xfrm>
            <a:off x="6309360" y="2103120"/>
            <a:ext cx="21945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 한 문장으로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일을 시켜본다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502920" y="3200400"/>
            <a:ext cx="3657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60분 타임라인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502920" y="3566160"/>
            <a:ext cx="1301496" cy="566928"/>
          </a:xfrm>
          <a:prstGeom prst="roundRect">
            <a:avLst>
              <a:gd name="adj" fmla="val 9677"/>
            </a:avLst>
          </a:prstGeom>
          <a:solidFill>
            <a:srgbClr val="1FA37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1" name="Text 19"/>
          <p:cNvSpPr/>
          <p:nvPr/>
        </p:nvSpPr>
        <p:spPr>
          <a:xfrm>
            <a:off x="502920" y="3566160"/>
            <a:ext cx="130149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개념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10분</a:t>
            </a:r>
            <a:endParaRPr lang="en-US" sz="1200" dirty="0"/>
          </a:p>
        </p:txBody>
      </p:sp>
      <p:sp>
        <p:nvSpPr>
          <p:cNvPr id="22" name="Shape 20"/>
          <p:cNvSpPr/>
          <p:nvPr/>
        </p:nvSpPr>
        <p:spPr>
          <a:xfrm>
            <a:off x="1859280" y="3566160"/>
            <a:ext cx="1979676" cy="566928"/>
          </a:xfrm>
          <a:prstGeom prst="roundRect">
            <a:avLst>
              <a:gd name="adj" fmla="val 9677"/>
            </a:avLst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3" name="Text 21"/>
          <p:cNvSpPr/>
          <p:nvPr/>
        </p:nvSpPr>
        <p:spPr>
          <a:xfrm>
            <a:off x="1859280" y="3566160"/>
            <a:ext cx="197967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15분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3893820" y="3566160"/>
            <a:ext cx="2250948" cy="566928"/>
          </a:xfrm>
          <a:prstGeom prst="roundRect">
            <a:avLst>
              <a:gd name="adj" fmla="val 9677"/>
            </a:avLst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3893820" y="3566160"/>
            <a:ext cx="225094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17분</a:t>
            </a:r>
            <a:endParaRPr lang="en-US" sz="1200" dirty="0"/>
          </a:p>
        </p:txBody>
      </p:sp>
      <p:sp>
        <p:nvSpPr>
          <p:cNvPr id="26" name="Shape 24"/>
          <p:cNvSpPr/>
          <p:nvPr/>
        </p:nvSpPr>
        <p:spPr>
          <a:xfrm>
            <a:off x="6199632" y="3566160"/>
            <a:ext cx="1708404" cy="566928"/>
          </a:xfrm>
          <a:prstGeom prst="roundRect">
            <a:avLst>
              <a:gd name="adj" fmla="val 9677"/>
            </a:avLst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199632" y="3566160"/>
            <a:ext cx="1708404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실습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13분</a:t>
            </a:r>
            <a:endParaRPr lang="en-US" sz="1200" dirty="0"/>
          </a:p>
        </p:txBody>
      </p:sp>
      <p:sp>
        <p:nvSpPr>
          <p:cNvPr id="28" name="Shape 26"/>
          <p:cNvSpPr/>
          <p:nvPr/>
        </p:nvSpPr>
        <p:spPr>
          <a:xfrm>
            <a:off x="7962900" y="3566160"/>
            <a:ext cx="623316" cy="566928"/>
          </a:xfrm>
          <a:prstGeom prst="roundRect">
            <a:avLst>
              <a:gd name="adj" fmla="val 9677"/>
            </a:avLst>
          </a:prstGeom>
          <a:solidFill>
            <a:srgbClr val="1FA37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9" name="Text 27"/>
          <p:cNvSpPr/>
          <p:nvPr/>
        </p:nvSpPr>
        <p:spPr>
          <a:xfrm>
            <a:off x="7962900" y="3566160"/>
            <a:ext cx="623316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lnSpc>
                <a:spcPct val="95000"/>
              </a:lnSpc>
              <a:buNone/>
            </a:pPr>
            <a:r>
              <a:rPr lang="en-US" sz="1200" b="1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마무리
</a:t>
            </a:r>
            <a:endParaRPr lang="en-US" sz="1200" dirty="0"/>
          </a:p>
          <a:p>
            <a:pPr marL="0" indent="0" algn="ctr">
              <a:lnSpc>
                <a:spcPct val="95000"/>
              </a:lnSpc>
              <a:buNone/>
            </a:pPr>
            <a:r>
              <a:rPr lang="en-US" sz="1000" dirty="0">
                <a:solidFill>
                  <a:srgbClr val="10261C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5분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50292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17:00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812280" y="4187952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0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18:00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채팅창 vs 에이전트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겉모습은 비슷하지만, 일하는 방식이 완전히 다릅니다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777240" y="1554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💬  채팅창 AI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77240" y="19385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전화로 조언해주는 컨설턴트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777240" y="233172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질문 → 답 복사 → 붙여넣기 → 에러 →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다시 복사… 반복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파일과 화면을 볼 수 없음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"이렇게 하시면 됩니다" — 말로 끝</a:t>
            </a:r>
            <a:endParaRPr lang="en-US" sz="1250" dirty="0"/>
          </a:p>
        </p:txBody>
      </p:sp>
      <p:sp>
        <p:nvSpPr>
          <p:cNvPr id="8" name="Shape 6"/>
          <p:cNvSpPr/>
          <p:nvPr/>
        </p:nvSpPr>
        <p:spPr>
          <a:xfrm>
            <a:off x="4709160" y="1371600"/>
            <a:ext cx="3931920" cy="2743200"/>
          </a:xfrm>
          <a:prstGeom prst="roundRect">
            <a:avLst>
              <a:gd name="adj" fmla="val 2667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9" name="Text 7"/>
          <p:cNvSpPr/>
          <p:nvPr/>
        </p:nvSpPr>
        <p:spPr>
          <a:xfrm>
            <a:off x="4983480" y="1554480"/>
            <a:ext cx="3383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🤖  에이전트</a:t>
            </a:r>
            <a:endParaRPr lang="en-US" sz="1600" dirty="0"/>
          </a:p>
        </p:txBody>
      </p:sp>
      <p:sp>
        <p:nvSpPr>
          <p:cNvPr id="10" name="Text 8"/>
          <p:cNvSpPr/>
          <p:nvPr/>
        </p:nvSpPr>
        <p:spPr>
          <a:xfrm>
            <a:off x="4983480" y="1938528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옆자리에서 직접 손 움직이는 동료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2331720"/>
            <a:ext cx="34290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 폴더의 파일을 읽고, 고치고,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프로그램을 실행하고, 결과 확인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틀리면 스스로 다시 시도</a:t>
            </a: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endParaRPr lang="en-US" sz="1250" dirty="0"/>
          </a:p>
          <a:p>
            <a:pPr marL="0" indent="0">
              <a:lnSpc>
                <a:spcPct val="110000"/>
              </a:lnSpc>
              <a:buNone/>
            </a:pPr>
            <a:r>
              <a:rPr lang="en-US" sz="12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"3개 완료했습니다" — 일로 끝</a:t>
            </a:r>
            <a:endParaRPr lang="en-US" sz="1250" dirty="0"/>
          </a:p>
        </p:txBody>
      </p:sp>
      <p:sp>
        <p:nvSpPr>
          <p:cNvPr id="12" name="Text 10"/>
          <p:cNvSpPr/>
          <p:nvPr/>
        </p:nvSpPr>
        <p:spPr>
          <a:xfrm>
            <a:off x="502920" y="4389120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줄 요약:  채팅창은 AI가 답을 말해주는 곳, 에이전트는 AI가 내 컴퓨터에서 직접 일하는 곳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에이전트는 </a:t>
            </a:r>
            <a:r>
              <a:rPr lang="en-US" sz="3000" b="1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이렇게</a:t>
            </a: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3000" b="1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일합니다</a:t>
            </a: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(</a:t>
            </a:r>
            <a:r>
              <a:rPr lang="en-US" sz="3000" b="1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</a:t>
            </a: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그리고 여러분의 허락 없이는 움직이지 않습니다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681480"/>
            <a:ext cx="1234440" cy="1234440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640080" y="168148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계획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1920240" y="19558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7" name="Shape 5"/>
          <p:cNvSpPr/>
          <p:nvPr/>
        </p:nvSpPr>
        <p:spPr>
          <a:xfrm>
            <a:off x="2697480" y="1681480"/>
            <a:ext cx="1234440" cy="1234440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2697480" y="168148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실행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3977640" y="19558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0" name="Shape 8"/>
          <p:cNvSpPr/>
          <p:nvPr/>
        </p:nvSpPr>
        <p:spPr>
          <a:xfrm>
            <a:off x="4754880" y="1681480"/>
            <a:ext cx="1234440" cy="1234440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4754880" y="168148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확인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6035040" y="1955800"/>
            <a:ext cx="7315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6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2600" dirty="0"/>
          </a:p>
        </p:txBody>
      </p:sp>
      <p:sp>
        <p:nvSpPr>
          <p:cNvPr id="13" name="Shape 11"/>
          <p:cNvSpPr/>
          <p:nvPr/>
        </p:nvSpPr>
        <p:spPr>
          <a:xfrm>
            <a:off x="6812280" y="1681480"/>
            <a:ext cx="1234440" cy="1234440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Text 12"/>
          <p:cNvSpPr/>
          <p:nvPr/>
        </p:nvSpPr>
        <p:spPr>
          <a:xfrm>
            <a:off x="6812280" y="1681480"/>
            <a:ext cx="1234440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6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재시도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640080" y="3053080"/>
            <a:ext cx="7863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실패하면 계획으로 되돌아가 다시 —  사람이 개입할 필요 없이 알아서 굴러가는 루프</a:t>
            </a:r>
            <a:endParaRPr lang="en-US" sz="1250" dirty="0"/>
          </a:p>
        </p:txBody>
      </p:sp>
      <p:sp>
        <p:nvSpPr>
          <p:cNvPr id="16" name="Shape 14"/>
          <p:cNvSpPr/>
          <p:nvPr/>
        </p:nvSpPr>
        <p:spPr>
          <a:xfrm>
            <a:off x="502920" y="3556000"/>
            <a:ext cx="8138160" cy="1325880"/>
          </a:xfrm>
          <a:prstGeom prst="roundRect">
            <a:avLst>
              <a:gd name="adj" fmla="val 5517"/>
            </a:avLst>
          </a:prstGeom>
          <a:solidFill>
            <a:srgbClr val="FFF6E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Text 15"/>
          <p:cNvSpPr/>
          <p:nvPr/>
        </p:nvSpPr>
        <p:spPr>
          <a:xfrm>
            <a:off x="777240" y="3693160"/>
            <a:ext cx="75895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🔒  안전장치: 승인제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777240" y="4086352"/>
            <a:ext cx="75895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세 도구 모두 파일을 고치거나 명령을 실행하기 전에 반드시 물어봅니다. "이 파일 수정할까요? (y/n)"</a:t>
            </a:r>
            <a:endParaRPr lang="en-US" sz="125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다만 실습은 반드시 빈 폴더에서 — 진행 중인 보고서 폴더에서 돌리지 마세요.</a:t>
            </a:r>
            <a:endParaRPr lang="en-US" sz="1250" dirty="0"/>
          </a:p>
        </p:txBody>
      </p:sp>
      <p:sp>
        <p:nvSpPr>
          <p:cNvPr id="19" name="HarnessCaption">
            <a:extLst>
              <a:ext uri="{FF2B5EF4-FFF2-40B4-BE49-F238E27FC236}">
                <a16:creationId xmlns:a16="http://schemas.microsoft.com/office/drawing/2014/main" id="{BD410459-E2A4-2A43-A3C1-3A949812DB24}"/>
              </a:ext>
            </a:extLst>
          </p:cNvPr>
          <p:cNvSpPr txBox="1"/>
          <p:nvPr/>
        </p:nvSpPr>
        <p:spPr>
          <a:xfrm>
            <a:off x="508000" y="1219200"/>
            <a:ext cx="8140700" cy="477054"/>
          </a:xfrm>
          <a:prstGeom prst="rect">
            <a:avLst/>
          </a:prstGeom>
          <a:noFill/>
        </p:spPr>
        <p:txBody>
          <a:bodyPr vertOverflow="overflow" vert="horz" wrap="square" rtlCol="0" anchor="t">
            <a:spAutoFit/>
          </a:bodyPr>
          <a:lstStyle/>
          <a:p>
            <a:pPr marL="0" indent="0">
              <a:buNone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하네스란? </a:t>
            </a:r>
            <a:r>
              <a:rPr lang="en-US" sz="12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에이전트의 실행 루프와 안전장치(승인, 로그 등)를 하나로 감싸 구동하는 프로그램입니다</a:t>
            </a:r>
          </a:p>
          <a:p>
            <a:pPr marL="0" indent="0">
              <a:buNone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</a:t>
            </a: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Code, Codex, Cursor, Antigravity </a:t>
            </a:r>
            <a:r>
              <a:rPr lang="en-US" sz="1200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</a:t>
            </a: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// </a:t>
            </a:r>
            <a:r>
              <a:rPr lang="en-US" sz="1200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오케스트레이터</a:t>
            </a:r>
            <a:r>
              <a:rPr 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:</a:t>
            </a:r>
            <a:r>
              <a:rPr lang="ko-KR" alt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altLang="ko-KR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Hermes agent, </a:t>
            </a:r>
            <a:r>
              <a:rPr lang="en-US" altLang="ko-KR" sz="1200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cmux</a:t>
            </a:r>
            <a:r>
              <a:rPr lang="en-US" altLang="ko-KR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ko-KR" alt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등 </a:t>
            </a:r>
            <a:r>
              <a:rPr lang="en-US" altLang="ko-KR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(</a:t>
            </a:r>
            <a:r>
              <a:rPr lang="ko-KR" altLang="en-US" sz="1200" dirty="0" err="1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</a:t>
            </a:r>
            <a:r>
              <a:rPr lang="ko-KR" altLang="en-US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작업 분배 조율</a:t>
            </a:r>
            <a:r>
              <a:rPr lang="en-US" altLang="ko-KR" sz="12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250" dirty="0">
              <a:solidFill>
                <a:srgbClr val="5B6B7A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</p:txBody>
      </p:sp>
    </p:spTree>
    <p:extLst>
      <p:ext uri="{BB962C8B-B14F-4D97-AF65-F5344CB8AC3E}">
        <p14:creationId xmlns:p14="http://schemas.microsoft.com/office/powerpoint/2010/main" val="317023479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도구 3종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내가 구독 중인 서비스를 따라가면 됩니다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2596896"/>
        </p:xfrm>
        <a:graphic>
          <a:graphicData uri="http://schemas.openxmlformats.org/drawingml/2006/table">
            <a:tbl>
              <a:tblPr/>
              <a:tblGrid>
                <a:gridCol w="12801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28600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Codex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Antigravity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FA372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만든 곳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Anthropic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OpenAI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Google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형태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 (CLI)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터미널 (CLI) + 앱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독립 앱 (VS Code 스타일)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84048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 계정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Pro 이상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ChatGPT Plus 이상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구글 계정 (무료)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603504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첫인상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검은 화면이지만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대화만 하면 됨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Code와 유사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화면이 있어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가장 친숙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오늘 누가?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Claude 유료 구독자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ChatGPT 유료 구독자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200" b="1" dirty="0">
                          <a:solidFill>
                            <a:srgbClr val="1FA3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Gemini · 무구독자</a:t>
                      </a:r>
                      <a:endParaRPr lang="en-US" sz="120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52628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3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공통점: 셋 다 한국어로 말하면 됩니다. 명령어를 외울 필요가 없어요.</a:t>
            </a:r>
            <a:endParaRPr lang="en-US" sz="13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핵심 개념 5가지 — "AI 신입사원" 비유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핸드아웃에 상세 설명 있음 · 오늘은 이 표만 기억하세요</a:t>
            </a:r>
            <a:endParaRPr lang="en-US" sz="1300" dirty="0"/>
          </a:p>
        </p:txBody>
      </p:sp>
      <p:graphicFrame>
        <p:nvGraphicFramePr>
          <p:cNvPr id="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02920" y="1371600"/>
          <a:ext cx="8138160" cy="2670048"/>
        </p:xfrm>
        <a:graphic>
          <a:graphicData uri="http://schemas.openxmlformats.org/drawingml/2006/table">
            <a:tbl>
              <a:tblPr/>
              <a:tblGrid>
                <a:gridCol w="20116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7373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438912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84048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필요한 것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AI 세계의 이름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한 줄 정의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6212E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대화할 창구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CLI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신입과 이야기하는 터미널 창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사내 시스템 출입증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A3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MCP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그룹웨어·슬랙·hwp 등 외부 시스템 연결 규격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업무 매뉴얼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FA372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스킬 (Skill)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"이 일은 이렇게 처리해" 작업 절차서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매뉴얼+출입증 세트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플러그인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스킬·명령어·MCP를 한 번에 설치하는 꾸러미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57200"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팀 규칙 게시판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b="1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AGENTS.md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250" dirty="0">
                          <a:solidFill>
                            <a:srgbClr val="1B2733"/>
                          </a:solidFill>
                          <a:latin typeface="Malgun Gothic" pitchFamily="34" charset="0"/>
                          <a:ea typeface="Malgun Gothic" pitchFamily="34" charset="-122"/>
                          <a:cs typeface="Malgun Gothic" pitchFamily="34" charset="-120"/>
                        </a:rPr>
                        <a:t>매번 말 안 해도 항상 지키는 기본 규칙 파일</a:t>
                      </a:r>
                      <a:endParaRPr lang="en-US" sz="1250" dirty="0">
                        <a:latin typeface="Malgun Gothic" charset="0"/>
                        <a:ea typeface="Malgun Gothic" charset="0"/>
                        <a:cs typeface="Malgun Gothic" charset="0"/>
                      </a:endParaRPr>
                    </a:p>
                  </a:txBody>
                  <a:tcPr anchor="ctr">
                    <a:lnL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CE5E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5" name="Text 2"/>
          <p:cNvSpPr/>
          <p:nvPr/>
        </p:nvSpPr>
        <p:spPr>
          <a:xfrm>
            <a:off x="502920" y="443484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팀에 아주 똑똑한 신입사원(에이전트)이 왔다 — 일 잘하게 만들려면 이 다섯 개가 필요합니다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— AI용 USB-C 단자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 번 만들면 Claude Code에도, Codex에도, Antigravity에도 꽂힙니다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이미 만들어진 것 (꽂기만 하면 됨)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Slack, Monday, Notion — 협업 툴 연동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Google Drive · Gmail · Calendar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브라우저 MCP — 웹 접속·클릭·입력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GitHub, 그 외 수천 개 공개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983480" y="1481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우리가 직접 만든 것 (로컬)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9202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hwpx-mcp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AI가 한글(hwpx) 문서를 읽고 씀</a:t>
            </a:r>
            <a:endParaRPr lang="en-US" sz="1250" dirty="0"/>
          </a:p>
          <a:p>
            <a:pPr marL="342900" indent="-342900">
              <a:lnSpc>
                <a:spcPct val="120000"/>
              </a:lnSpc>
              <a:buSzPct val="100000"/>
              <a:buChar char="•"/>
            </a:pPr>
            <a:r>
              <a:rPr lang="en-US" sz="125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ji-gw-ai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우리 기관 그룹웨어 접속 — 일정 등록,</a:t>
            </a:r>
            <a:endParaRPr lang="en-US" sz="1250" dirty="0"/>
          </a:p>
          <a:p>
            <a:pPr marL="0" indent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 결재 확인 등을 AI가 직접 수행</a:t>
            </a:r>
            <a:endParaRPr lang="en-US" sz="1250" dirty="0"/>
          </a:p>
        </p:txBody>
      </p:sp>
      <p:sp>
        <p:nvSpPr>
          <p:cNvPr id="10" name="Shape 8"/>
          <p:cNvSpPr/>
          <p:nvPr/>
        </p:nvSpPr>
        <p:spPr>
          <a:xfrm>
            <a:off x="502920" y="4297680"/>
            <a:ext cx="8138160" cy="685800"/>
          </a:xfrm>
          <a:prstGeom prst="roundRect">
            <a:avLst>
              <a:gd name="adj" fmla="val 9333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813816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502920" y="4443984"/>
            <a:ext cx="813816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630936" y="438912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813816" y="438912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996696" y="438912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04088" y="4681728"/>
            <a:ext cx="7735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 mcp add hwpx -- npx hwpx-mcp     # 꽂는 건 한 줄, 그 다음부턴 말만 하면 됨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36184234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vs MCP — 뭐가 다른가요?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같은 기술이지만, 쓰는 자리와 방식이 다릅니다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Text 3"/>
          <p:cNvSpPr/>
          <p:nvPr/>
        </p:nvSpPr>
        <p:spPr>
          <a:xfrm>
            <a:off x="777240" y="1481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커넥터 (채팅 앱에서)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777240" y="1920240"/>
            <a:ext cx="3474720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Claude.ai 같은 채팅 화면에서 클릭 몇 번으로 연결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로그인(OAuth)만 하면 끝 — 설정 파일 없음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Slack, Google Drive, Notion 등을 토글로 켜고 끔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코드·설치 지식 없이 누구나 </a:t>
            </a:r>
            <a:r>
              <a:rPr lang="en-US" sz="1200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사용</a:t>
            </a: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200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가능</a:t>
            </a:r>
            <a:endParaRPr lang="en-US" sz="1200" dirty="0">
              <a:solidFill>
                <a:srgbClr val="1B2733"/>
              </a:solidFill>
              <a:latin typeface="Malgun Gothic" pitchFamily="34" charset="0"/>
              <a:ea typeface="Malgun Gothic" pitchFamily="34" charset="-122"/>
              <a:cs typeface="Malgun Gothic" pitchFamily="34" charset="-120"/>
            </a:endParaRPr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 err="1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</a:rPr>
              <a:t>채팅앱에서</a:t>
            </a:r>
            <a:r>
              <a:rPr lang="ko-KR" alt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</a:rPr>
              <a:t> 사용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709160" y="1325880"/>
            <a:ext cx="3931920" cy="2834640"/>
          </a:xfrm>
          <a:prstGeom prst="roundRect">
            <a:avLst>
              <a:gd name="adj" fmla="val 2581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8" name="Text 6"/>
          <p:cNvSpPr/>
          <p:nvPr/>
        </p:nvSpPr>
        <p:spPr>
          <a:xfrm>
            <a:off x="4983480" y="1481328"/>
            <a:ext cx="3474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 (</a:t>
            </a:r>
            <a:r>
              <a:rPr lang="en-US" sz="1400" b="1" dirty="0" err="1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개발</a:t>
            </a:r>
            <a:r>
              <a:rPr lang="en-US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</a:t>
            </a:r>
            <a:r>
              <a:rPr lang="en-US" sz="1400" b="1" dirty="0" err="1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도구</a:t>
            </a:r>
            <a:r>
              <a:rPr lang="en-US" altLang="ko-KR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</a:t>
            </a:r>
            <a:r>
              <a:rPr lang="ko-KR" altLang="en-US" sz="1400" b="1" dirty="0" err="1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하네스</a:t>
            </a:r>
            <a:r>
              <a:rPr lang="en-US" sz="1400" b="1" dirty="0" err="1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에서</a:t>
            </a:r>
            <a:r>
              <a:rPr lang="en-US" sz="14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)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4983480" y="1920240"/>
            <a:ext cx="347472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Code, Cursor 같은 하네스에 직접 등록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예: claude mcp add slack -- npx slack-mcp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로컬 파일·사내 시스템 등 제한 없이 연결</a:t>
            </a:r>
            <a:endParaRPr lang="en-US" sz="1200" dirty="0"/>
          </a:p>
          <a:p>
            <a:pPr marL="342900" indent="-342900">
              <a:lnSpc>
                <a:spcPct val="125000"/>
              </a:lnSpc>
              <a:buSzPct val="100000"/>
              <a:buChar char="•"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커스텀 서버를 직접 만들 수 있음 — 개발자용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02920" y="4297680"/>
            <a:ext cx="8138160" cy="685800"/>
          </a:xfrm>
          <a:prstGeom prst="roundRect">
            <a:avLst>
              <a:gd name="adj" fmla="val 9333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502920" y="4297680"/>
            <a:ext cx="813816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502920" y="4443984"/>
            <a:ext cx="813816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Shape 11"/>
          <p:cNvSpPr/>
          <p:nvPr/>
        </p:nvSpPr>
        <p:spPr>
          <a:xfrm>
            <a:off x="630936" y="438912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813816" y="438912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996696" y="438912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Text 14"/>
          <p:cNvSpPr/>
          <p:nvPr/>
        </p:nvSpPr>
        <p:spPr>
          <a:xfrm>
            <a:off x="704088" y="4681728"/>
            <a:ext cx="7735824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1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# 커넥터도 내부적으로는 MCP 프로토콜을 씁니다 — 사용자 경험만 더 쉽게 포장한 것</a:t>
            </a:r>
            <a:endParaRPr lang="en-US" sz="1100" dirty="0"/>
          </a:p>
        </p:txBody>
      </p:sp>
    </p:spTree>
    <p:extLst>
      <p:ext uri="{BB962C8B-B14F-4D97-AF65-F5344CB8AC3E}">
        <p14:creationId xmlns:p14="http://schemas.microsoft.com/office/powerpoint/2010/main" val="290093291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스킬 — 업무 매뉴얼 폴더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MCP가 출입증이라면, 스킬은 "우리 방식대로 일하게" 하는 매뉴얼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4206240" cy="3108960"/>
          </a:xfrm>
          <a:prstGeom prst="roundRect">
            <a:avLst>
              <a:gd name="adj" fmla="val 2059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02920" y="1371600"/>
            <a:ext cx="420624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02920" y="1517904"/>
            <a:ext cx="420624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630936" y="146304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813816" y="146304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996696" y="146304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1234440" y="1371600"/>
            <a:ext cx="32918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mail-skill — 매뉴얼 예시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04088" y="1755648"/>
            <a:ext cx="3803904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5B942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mail-skill/SKILL.md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# 기관 메일 작성 규칙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첫 줄: "안녕하십니까,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○○센터 ○○○입니다."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존댓말, 두괄식으로 용건 먼저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서명 블록: 이름/부서/내선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- 외부 발송은 기관명 풀네임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4983480" y="1463040"/>
            <a:ext cx="3657600" cy="3017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5000"/>
              </a:lnSpc>
              <a:buNone/>
            </a:pPr>
            <a:r>
              <a:rPr lang="en-US" sz="160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코딩이 아닙니다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한국어로 매뉴얼을 쓰는 일입니다.
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 폴더를 스킬 위치에 넣어두면, "메일 초안 써줘"
할 때마다 AI가 알아서 이 규칙대로 씁니다.
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매번 규칙을 다시 설명할 필요가 없어지는 것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— 이게 스킬의 핵심입니다.
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팁: "방금 한 작업 과정을 스킬로 저장해줘"라고</a:t>
            </a:r>
            <a:endParaRPr lang="en-US" sz="1300" dirty="0"/>
          </a:p>
          <a:p>
            <a:pPr marL="0" indent="0">
              <a:lnSpc>
                <a:spcPct val="115000"/>
              </a:lnSpc>
              <a:buNone/>
            </a:pPr>
            <a:r>
              <a:rPr lang="en-US" sz="11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AI에게 시켜도 됩니다.</a:t>
            </a:r>
            <a:endParaRPr lang="en-US" sz="13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전부 조합하면 — 문장 하나로 업무일지 끝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출입증(MCP) 여러 장 + 매뉴얼(스킬) 여러 권의 합주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25880"/>
            <a:ext cx="8138160" cy="777240"/>
          </a:xfrm>
          <a:prstGeom prst="roundRect">
            <a:avLst>
              <a:gd name="adj" fmla="val 8235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502920" y="1325880"/>
            <a:ext cx="813816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02920" y="1472184"/>
            <a:ext cx="813816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630936" y="141732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813816" y="141732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996696" y="141732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704088" y="1709928"/>
            <a:ext cx="773582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3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이번 주 업무일지 작성해서 그룹웨어에 올리고, 요약을 소모임 채널에 공유해줘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02920" y="242316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2" name="Shape 10"/>
          <p:cNvSpPr/>
          <p:nvPr/>
        </p:nvSpPr>
        <p:spPr>
          <a:xfrm>
            <a:off x="667512" y="25786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667512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640080" y="29992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ji-gw-ai (MCP)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40080" y="345643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그룹웨어에서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일정 조회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2386584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17" name="Shape 15"/>
          <p:cNvSpPr/>
          <p:nvPr/>
        </p:nvSpPr>
        <p:spPr>
          <a:xfrm>
            <a:off x="2587752" y="242316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2752344" y="25786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2752344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2724912" y="29992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calendar-worklog (스킬)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2724912" y="345643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매뉴얼 양식대로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업무일지 작성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4471416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3" name="Shape 21"/>
          <p:cNvSpPr/>
          <p:nvPr/>
        </p:nvSpPr>
        <p:spPr>
          <a:xfrm>
            <a:off x="4672584" y="242316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4837176" y="25786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Text 23"/>
          <p:cNvSpPr/>
          <p:nvPr/>
        </p:nvSpPr>
        <p:spPr>
          <a:xfrm>
            <a:off x="4837176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26" name="Text 24"/>
          <p:cNvSpPr/>
          <p:nvPr/>
        </p:nvSpPr>
        <p:spPr>
          <a:xfrm>
            <a:off x="4809744" y="29992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hwp-agent + hwpx-mcp</a:t>
            </a:r>
            <a:endParaRPr lang="en-US" sz="1150" dirty="0"/>
          </a:p>
        </p:txBody>
      </p:sp>
      <p:sp>
        <p:nvSpPr>
          <p:cNvPr id="27" name="Text 25"/>
          <p:cNvSpPr/>
          <p:nvPr/>
        </p:nvSpPr>
        <p:spPr>
          <a:xfrm>
            <a:off x="4809744" y="345643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기관 양식 hwpx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파일 생성·등록</a:t>
            </a:r>
            <a:endParaRPr lang="en-US" sz="1050" dirty="0"/>
          </a:p>
        </p:txBody>
      </p:sp>
      <p:sp>
        <p:nvSpPr>
          <p:cNvPr id="28" name="Text 26"/>
          <p:cNvSpPr/>
          <p:nvPr/>
        </p:nvSpPr>
        <p:spPr>
          <a:xfrm>
            <a:off x="6556248" y="2971800"/>
            <a:ext cx="25603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800" b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</a:t>
            </a:r>
            <a:endParaRPr lang="en-US" sz="1800" dirty="0"/>
          </a:p>
        </p:txBody>
      </p:sp>
      <p:sp>
        <p:nvSpPr>
          <p:cNvPr id="29" name="Shape 27"/>
          <p:cNvSpPr/>
          <p:nvPr/>
        </p:nvSpPr>
        <p:spPr>
          <a:xfrm>
            <a:off x="6757416" y="2423160"/>
            <a:ext cx="1920240" cy="1600200"/>
          </a:xfrm>
          <a:prstGeom prst="roundRect">
            <a:avLst>
              <a:gd name="adj" fmla="val 4571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30" name="Shape 28"/>
          <p:cNvSpPr/>
          <p:nvPr/>
        </p:nvSpPr>
        <p:spPr>
          <a:xfrm>
            <a:off x="6922008" y="25786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31" name="Text 29"/>
          <p:cNvSpPr/>
          <p:nvPr/>
        </p:nvSpPr>
        <p:spPr>
          <a:xfrm>
            <a:off x="6922008" y="25786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4</a:t>
            </a:r>
            <a:endParaRPr lang="en-US" sz="1500" dirty="0"/>
          </a:p>
        </p:txBody>
      </p:sp>
      <p:sp>
        <p:nvSpPr>
          <p:cNvPr id="32" name="Text 30"/>
          <p:cNvSpPr/>
          <p:nvPr/>
        </p:nvSpPr>
        <p:spPr>
          <a:xfrm>
            <a:off x="6894576" y="2999232"/>
            <a:ext cx="1645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Slack MCP</a:t>
            </a:r>
            <a:endParaRPr lang="en-US" sz="1150" dirty="0"/>
          </a:p>
        </p:txBody>
      </p:sp>
      <p:sp>
        <p:nvSpPr>
          <p:cNvPr id="33" name="Text 31"/>
          <p:cNvSpPr/>
          <p:nvPr/>
        </p:nvSpPr>
        <p:spPr>
          <a:xfrm>
            <a:off x="6894576" y="3456432"/>
            <a:ext cx="16459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소모임 채널에</a:t>
            </a:r>
            <a:endParaRPr lang="en-US" sz="10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요약 공유</a:t>
            </a:r>
            <a:endParaRPr lang="en-US" sz="1050" dirty="0"/>
          </a:p>
        </p:txBody>
      </p:sp>
      <p:sp>
        <p:nvSpPr>
          <p:cNvPr id="34" name="Text 32"/>
          <p:cNvSpPr/>
          <p:nvPr/>
        </p:nvSpPr>
        <p:spPr>
          <a:xfrm>
            <a:off x="502920" y="434340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"완료했습니다. 확인해주세요."  —  이게 에이전트 활용의 최종 그림입니다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621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①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그룹웨어 일정 등록 + 슬랙 공지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 ·  채팅창 AI는 절대 못 하는 일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8046720" cy="2103120"/>
          </a:xfrm>
          <a:prstGeom prst="roundRect">
            <a:avLst>
              <a:gd name="adj" fmla="val 3043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804672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340864"/>
            <a:ext cx="804672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76656" y="228600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859536" y="228600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042416" y="228600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280160" y="219456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2578608"/>
            <a:ext cx="7644384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claude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그룹웨어에 다음 소모임 일정 잡고, 소모임 채널에 공지 올려줘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[1/3] ji-gw-ai로 그룹웨어 접속 → 일정 등록      ← 지금 '출입증(MCP)'을 쓰는 중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[2/3] 공지 문안 작성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[3/3] Slack MCP로 #인공지능연구회소모임 게시    ✓ 완료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434840"/>
            <a:ext cx="8046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i="1" dirty="0">
                <a:solidFill>
                  <a:srgbClr val="F5B9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 창이 뜰 때마다 잠깐 멈춥니다 — "지금 저한테 허락을 구하는 겁니다"</a:t>
            </a:r>
            <a:endParaRPr lang="en-US" sz="120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3CF209FA-2CC9-1FAE-8A16-473CD9AF7C21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03206" y="1757406"/>
            <a:ext cx="2928730" cy="1166916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621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457200"/>
            <a:ext cx="2743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시연 ②</a:t>
            </a:r>
            <a:endParaRPr lang="en-US" sz="1800" dirty="0"/>
          </a:p>
        </p:txBody>
      </p:sp>
      <p:sp>
        <p:nvSpPr>
          <p:cNvPr id="3" name="Text 1"/>
          <p:cNvSpPr/>
          <p:nvPr/>
        </p:nvSpPr>
        <p:spPr>
          <a:xfrm>
            <a:off x="548640" y="914400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hwp2pdf 작업을 슬랙에 공유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60020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AFC3D6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(ChatGPT)  ·  우리 채널에서 이미 해온 일들의 연장선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2194560"/>
            <a:ext cx="8046720" cy="1828800"/>
          </a:xfrm>
          <a:prstGeom prst="roundRect">
            <a:avLst>
              <a:gd name="adj" fmla="val 3500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548640" y="2194560"/>
            <a:ext cx="804672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548640" y="2340864"/>
            <a:ext cx="804672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676656" y="228600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859536" y="228600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1042416" y="228600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1280160" y="2194560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live demo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49808" y="2578608"/>
            <a:ext cx="7644384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$ codex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&gt; 내가 만든 hwp2pdf 내용 정리해서 동호회 채널에 올려줘</a:t>
            </a: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endParaRPr lang="en-US" sz="120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1200" dirty="0">
                <a:solidFill>
                  <a:srgbClr val="35D399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  README 요약 → 슬랙 업로드   ✓ 완료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48640" y="420624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우리 업무의 상당수가 hwp — 이런 반복 작업이 자동화 1순위입니다. (HWP Preview 봇, hwpx-mcp 기억나시죠?)</a:t>
            </a:r>
            <a:endParaRPr lang="en-US" sz="1250" dirty="0"/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63FA69F5-1211-B62D-52EB-FE795A0DA66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8953" y="1970598"/>
            <a:ext cx="3322983" cy="1964801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설치 실습 — 내 구독에 맞는 것 하나만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손 들어주세요: Claude 유료 / ChatGPT 유료 / 그 외</a:t>
            </a:r>
            <a:endParaRPr lang="en-US" sz="1300" dirty="0"/>
          </a:p>
        </p:txBody>
      </p:sp>
      <p:sp>
        <p:nvSpPr>
          <p:cNvPr id="4" name="Text 2"/>
          <p:cNvSpPr/>
          <p:nvPr/>
        </p:nvSpPr>
        <p:spPr>
          <a:xfrm>
            <a:off x="411480" y="12984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Code  </a:t>
            </a: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Claude Pro 이상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365760" y="1645920"/>
            <a:ext cx="2743200" cy="2377440"/>
          </a:xfrm>
          <a:prstGeom prst="roundRect">
            <a:avLst>
              <a:gd name="adj" fmla="val 2692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6" name="Shape 4"/>
          <p:cNvSpPr/>
          <p:nvPr/>
        </p:nvSpPr>
        <p:spPr>
          <a:xfrm>
            <a:off x="365760" y="164592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274320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8" name="Shape 6"/>
          <p:cNvSpPr/>
          <p:nvPr/>
        </p:nvSpPr>
        <p:spPr>
          <a:xfrm>
            <a:off x="493776" y="173736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9" name="Shape 7"/>
          <p:cNvSpPr/>
          <p:nvPr/>
        </p:nvSpPr>
        <p:spPr>
          <a:xfrm>
            <a:off x="676656" y="173736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Shape 8"/>
          <p:cNvSpPr/>
          <p:nvPr/>
        </p:nvSpPr>
        <p:spPr>
          <a:xfrm>
            <a:off x="859536" y="173736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1" name="Text 9"/>
          <p:cNvSpPr/>
          <p:nvPr/>
        </p:nvSpPr>
        <p:spPr>
          <a:xfrm>
            <a:off x="566928" y="2029968"/>
            <a:ext cx="23408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 터미널: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https://claude.ai/install.sh | bash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PowerShell: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https://claude.ai/install.ps1 | iex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설치 후 claude 입력, 브라우저 로그인</a:t>
            </a:r>
            <a:endParaRPr lang="en-US" sz="850" dirty="0"/>
          </a:p>
        </p:txBody>
      </p:sp>
      <p:sp>
        <p:nvSpPr>
          <p:cNvPr id="12" name="Text 10"/>
          <p:cNvSpPr/>
          <p:nvPr/>
        </p:nvSpPr>
        <p:spPr>
          <a:xfrm>
            <a:off x="3273552" y="12984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Codex  </a:t>
            </a: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ChatGPT Plus 이상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227832" y="1645920"/>
            <a:ext cx="2743200" cy="2377440"/>
          </a:xfrm>
          <a:prstGeom prst="roundRect">
            <a:avLst>
              <a:gd name="adj" fmla="val 2692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14" name="Shape 12"/>
          <p:cNvSpPr/>
          <p:nvPr/>
        </p:nvSpPr>
        <p:spPr>
          <a:xfrm>
            <a:off x="3227832" y="164592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5" name="Shape 13"/>
          <p:cNvSpPr/>
          <p:nvPr/>
        </p:nvSpPr>
        <p:spPr>
          <a:xfrm>
            <a:off x="3227832" y="1792224"/>
            <a:ext cx="274320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6" name="Shape 14"/>
          <p:cNvSpPr/>
          <p:nvPr/>
        </p:nvSpPr>
        <p:spPr>
          <a:xfrm>
            <a:off x="3355848" y="173736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3538728" y="173736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Shape 16"/>
          <p:cNvSpPr/>
          <p:nvPr/>
        </p:nvSpPr>
        <p:spPr>
          <a:xfrm>
            <a:off x="3721608" y="173736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9" name="Text 17"/>
          <p:cNvSpPr/>
          <p:nvPr/>
        </p:nvSpPr>
        <p:spPr>
          <a:xfrm>
            <a:off x="3429000" y="2029968"/>
            <a:ext cx="23408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Mac 터미널: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curl -fsSL https://chatgpt.com/codex/install.sh | sh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Windows PowerShell: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irm https://chatgpt.com/codex/install.ps1 | iex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codex 입력, Sign in with ChatGPT</a:t>
            </a:r>
            <a:endParaRPr lang="en-US" sz="850" dirty="0"/>
          </a:p>
        </p:txBody>
      </p:sp>
      <p:sp>
        <p:nvSpPr>
          <p:cNvPr id="20" name="Text 18"/>
          <p:cNvSpPr/>
          <p:nvPr/>
        </p:nvSpPr>
        <p:spPr>
          <a:xfrm>
            <a:off x="6135624" y="1298448"/>
            <a:ext cx="27432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Antigravity  </a:t>
            </a:r>
            <a:r>
              <a:rPr lang="en-US" sz="105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구글 계정 (무료)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6089904" y="1645920"/>
            <a:ext cx="2743200" cy="2377440"/>
          </a:xfrm>
          <a:prstGeom prst="roundRect">
            <a:avLst>
              <a:gd name="adj" fmla="val 2692"/>
            </a:avLst>
          </a:prstGeom>
          <a:solidFill>
            <a:srgbClr val="1F2D3D"/>
          </a:solidFill>
          <a:ln/>
          <a:effectLst>
            <a:outerShdw blurRad="101600" dist="38100" dir="5400000" algn="bl" rotWithShape="0">
              <a:srgbClr val="000000">
                <a:alpha val="25000"/>
              </a:srgbClr>
            </a:outerShdw>
          </a:effectLst>
        </p:spPr>
        <p:txBody>
          <a:bodyPr/>
          <a:lstStyle/>
          <a:p>
            <a:endParaRPr lang="en-KR"/>
          </a:p>
        </p:txBody>
      </p:sp>
      <p:sp>
        <p:nvSpPr>
          <p:cNvPr id="22" name="Shape 20"/>
          <p:cNvSpPr/>
          <p:nvPr/>
        </p:nvSpPr>
        <p:spPr>
          <a:xfrm>
            <a:off x="6089904" y="1645920"/>
            <a:ext cx="2743200" cy="292608"/>
          </a:xfrm>
          <a:prstGeom prst="roundRect">
            <a:avLst>
              <a:gd name="adj" fmla="val 21875"/>
            </a:avLst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3" name="Shape 21"/>
          <p:cNvSpPr/>
          <p:nvPr/>
        </p:nvSpPr>
        <p:spPr>
          <a:xfrm>
            <a:off x="6089904" y="1792224"/>
            <a:ext cx="2743200" cy="146304"/>
          </a:xfrm>
          <a:prstGeom prst="rect">
            <a:avLst/>
          </a:prstGeom>
          <a:solidFill>
            <a:srgbClr val="2A3B4F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4" name="Shape 22"/>
          <p:cNvSpPr/>
          <p:nvPr/>
        </p:nvSpPr>
        <p:spPr>
          <a:xfrm>
            <a:off x="6217920" y="1737360"/>
            <a:ext cx="109728" cy="109728"/>
          </a:xfrm>
          <a:prstGeom prst="ellipse">
            <a:avLst/>
          </a:prstGeom>
          <a:solidFill>
            <a:srgbClr val="E86A5E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5" name="Shape 23"/>
          <p:cNvSpPr/>
          <p:nvPr/>
        </p:nvSpPr>
        <p:spPr>
          <a:xfrm>
            <a:off x="6400800" y="1737360"/>
            <a:ext cx="109728" cy="109728"/>
          </a:xfrm>
          <a:prstGeom prst="ellipse">
            <a:avLst/>
          </a:prstGeom>
          <a:solidFill>
            <a:srgbClr val="F5B942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6" name="Shape 24"/>
          <p:cNvSpPr/>
          <p:nvPr/>
        </p:nvSpPr>
        <p:spPr>
          <a:xfrm>
            <a:off x="6583680" y="1737360"/>
            <a:ext cx="109728" cy="109728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27" name="Text 25"/>
          <p:cNvSpPr/>
          <p:nvPr/>
        </p:nvSpPr>
        <p:spPr>
          <a:xfrm>
            <a:off x="6291072" y="2029968"/>
            <a:ext cx="2340864" cy="1874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antigravity.google/download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다운로드 후 설치 (일반 앱과 동일)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Start fresh 선택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에이전트 모드: 검토 중심(승인형)</a:t>
            </a:r>
            <a:endParaRPr lang="en-US" sz="850" dirty="0"/>
          </a:p>
          <a:p>
            <a:pPr marL="0" indent="0">
              <a:lnSpc>
                <a:spcPct val="125000"/>
              </a:lnSpc>
              <a:buNone/>
            </a:pPr>
            <a:r>
              <a:rPr lang="en-US" sz="8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→ 구글 계정 로그인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502920" y="4251960"/>
            <a:ext cx="8138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안 되면?  ① 터미널 껐다 다시 켜기  ② 무료 플랜이면 Antigravity로  ③ 크게 막히면 손 들기 (전체 진행은 계속)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292608"/>
            <a:ext cx="81381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첫 미션 — 바탕화면에 ai-test 빈 폴더부터</a:t>
            </a:r>
            <a:endParaRPr lang="en-US" sz="3000" dirty="0"/>
          </a:p>
        </p:txBody>
      </p:sp>
      <p:sp>
        <p:nvSpPr>
          <p:cNvPr id="3" name="Text 1"/>
          <p:cNvSpPr/>
          <p:nvPr/>
        </p:nvSpPr>
        <p:spPr>
          <a:xfrm>
            <a:off x="502920" y="86868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Antigravity는 폴더를 워크스페이스로 열기 · CLI는 cd로 이동 후 실행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02920" y="137160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6" name="Text 4"/>
          <p:cNvSpPr/>
          <p:nvPr/>
        </p:nvSpPr>
        <p:spPr>
          <a:xfrm>
            <a:off x="73152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1234440" y="146304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 1 · 승인 경험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3383280" y="146304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"hello.txt 파일을 만들고 오늘 배운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내용을 한 줄로 적어줘"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6995160" y="146304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승인(y) 누르는 순간을 경험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502920" y="242316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F2F6F4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1" name="Shape 9"/>
          <p:cNvSpPr/>
          <p:nvPr/>
        </p:nvSpPr>
        <p:spPr>
          <a:xfrm>
            <a:off x="731520" y="269748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2" name="Text 10"/>
          <p:cNvSpPr/>
          <p:nvPr/>
        </p:nvSpPr>
        <p:spPr>
          <a:xfrm>
            <a:off x="731520" y="26974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234440" y="251460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 2 · 보이는 결과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3383280" y="251460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"내 소개 웹페이지를 만들어서 브라우저로</a:t>
            </a:r>
            <a:endParaRPr lang="en-US" sz="11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열어줘. 배경은 내가 좋아하는 색으로"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6995160" y="251460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결과물이 눈앞에 뜨는 순간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502920" y="3474720"/>
            <a:ext cx="813816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7" name="Shape 15"/>
          <p:cNvSpPr/>
          <p:nvPr/>
        </p:nvSpPr>
        <p:spPr>
          <a:xfrm>
            <a:off x="731520" y="374904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8" name="Text 16"/>
          <p:cNvSpPr/>
          <p:nvPr/>
        </p:nvSpPr>
        <p:spPr>
          <a:xfrm>
            <a:off x="731520" y="374904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9" name="Text 17"/>
          <p:cNvSpPr/>
          <p:nvPr/>
        </p:nvSpPr>
        <p:spPr>
          <a:xfrm>
            <a:off x="1234440" y="3566160"/>
            <a:ext cx="21031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미션 3 · 대화로 수정</a:t>
            </a:r>
            <a:endParaRPr lang="en-US" sz="1300" dirty="0"/>
          </a:p>
        </p:txBody>
      </p:sp>
      <p:sp>
        <p:nvSpPr>
          <p:cNvPr id="20" name="Text 18"/>
          <p:cNvSpPr/>
          <p:nvPr/>
        </p:nvSpPr>
        <p:spPr>
          <a:xfrm>
            <a:off x="3383280" y="3566160"/>
            <a:ext cx="356616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150" dirty="0">
                <a:solidFill>
                  <a:srgbClr val="1FA37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"글씨를 키우고 이모지를 추가해줘"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6995160" y="3566160"/>
            <a:ext cx="1554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i="1" dirty="0">
                <a:solidFill>
                  <a:srgbClr val="5B6B7A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대화로 계속 고쳐나가는 감각</a:t>
            </a:r>
            <a:endParaRPr lang="en-US" sz="1050" dirty="0"/>
          </a:p>
        </p:txBody>
      </p:sp>
      <p:sp>
        <p:nvSpPr>
          <p:cNvPr id="22" name="Text 20"/>
          <p:cNvSpPr/>
          <p:nvPr/>
        </p:nvSpPr>
        <p:spPr>
          <a:xfrm>
            <a:off x="502920" y="4572000"/>
            <a:ext cx="8138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dirty="0">
                <a:solidFill>
                  <a:srgbClr val="1B2733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여유 있는 분: 폴더에 pdf 몇 개 넣고 → "이 파일들 내용을 요약한 목록.md 만들어줘"</a:t>
            </a:r>
            <a:endParaRPr lang="en-US" sz="12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6212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502920"/>
            <a:ext cx="80467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FFFFFF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오늘의 세 줄 요약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640080" y="1325880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4" name="Text 2"/>
          <p:cNvSpPr/>
          <p:nvPr/>
        </p:nvSpPr>
        <p:spPr>
          <a:xfrm>
            <a:off x="640080" y="132588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143000" y="1298448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에이전트 = 답만 하는 AI가 아니라, 내 컴퓨터에서 직접 일하는 AI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640080" y="1892808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7" name="Text 5"/>
          <p:cNvSpPr/>
          <p:nvPr/>
        </p:nvSpPr>
        <p:spPr>
          <a:xfrm>
            <a:off x="640080" y="189280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2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1143000" y="1865376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한국어로 대화하면 됩니다 — MCP는 출입증, 스킬은 매뉴얼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640080" y="2459736"/>
            <a:ext cx="347472" cy="347472"/>
          </a:xfrm>
          <a:prstGeom prst="ellipse">
            <a:avLst/>
          </a:prstGeom>
          <a:solidFill>
            <a:srgbClr val="35D399"/>
          </a:solidFill>
          <a:ln/>
        </p:spPr>
        <p:txBody>
          <a:bodyPr/>
          <a:lstStyle/>
          <a:p>
            <a:endParaRPr lang="en-KR"/>
          </a:p>
        </p:txBody>
      </p:sp>
      <p:sp>
        <p:nvSpPr>
          <p:cNvPr id="10" name="Text 8"/>
          <p:cNvSpPr/>
          <p:nvPr/>
        </p:nvSpPr>
        <p:spPr>
          <a:xfrm>
            <a:off x="640080" y="245973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6212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3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1143000" y="2432304"/>
            <a:ext cx="74066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승인제라 안전하지만, 실습은 빈 폴더에서만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548640" y="3246120"/>
            <a:ext cx="8046720" cy="960120"/>
          </a:xfrm>
          <a:prstGeom prst="roundRect">
            <a:avLst>
              <a:gd name="adj" fmla="val 7619"/>
            </a:avLst>
          </a:prstGeom>
          <a:solidFill>
            <a:srgbClr val="1F2D3D"/>
          </a:solidFill>
          <a:ln w="9525">
            <a:solidFill>
              <a:srgbClr val="DCE5E1"/>
            </a:solidFill>
            <a:prstDash val="solid"/>
          </a:ln>
        </p:spPr>
        <p:txBody>
          <a:bodyPr/>
          <a:lstStyle/>
          <a:p>
            <a:endParaRPr lang="en-KR"/>
          </a:p>
        </p:txBody>
      </p:sp>
      <p:sp>
        <p:nvSpPr>
          <p:cNvPr id="13" name="Text 11"/>
          <p:cNvSpPr/>
          <p:nvPr/>
        </p:nvSpPr>
        <p:spPr>
          <a:xfrm>
            <a:off x="822960" y="338328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50" b="1" dirty="0">
                <a:solidFill>
                  <a:srgbClr val="F5B942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이번 주 과제:  </a:t>
            </a:r>
            <a:r>
              <a:rPr lang="en-US" sz="1350" dirty="0">
                <a:solidFill>
                  <a:srgbClr val="D7E3EE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본인 업무 하나를 에이전트로 시도해보고, 결과를 #인공지능연구회소모임 채널에 공유</a:t>
            </a:r>
            <a:endParaRPr lang="en-US" sz="1350" dirty="0"/>
          </a:p>
        </p:txBody>
      </p:sp>
      <p:sp>
        <p:nvSpPr>
          <p:cNvPr id="14" name="Text 12"/>
          <p:cNvSpPr/>
          <p:nvPr/>
        </p:nvSpPr>
        <p:spPr>
          <a:xfrm>
            <a:off x="822960" y="3767328"/>
            <a:ext cx="74980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다음 소모임 후보:  MCP로 그룹웨어·슬랙 직접 연결  ·  스킬 만들기 실습  ·  플러그인으로 묶어 공유</a:t>
            </a:r>
            <a:endParaRPr lang="en-US" sz="1150" dirty="0"/>
          </a:p>
        </p:txBody>
      </p:sp>
      <p:sp>
        <p:nvSpPr>
          <p:cNvPr id="15" name="Text 13"/>
          <p:cNvSpPr/>
          <p:nvPr/>
        </p:nvSpPr>
        <p:spPr>
          <a:xfrm>
            <a:off x="548640" y="45262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9FB2C4"/>
                </a:solidFill>
                <a:latin typeface="Malgun Gothic" pitchFamily="34" charset="0"/>
                <a:ea typeface="Malgun Gothic" pitchFamily="34" charset="-122"/>
                <a:cs typeface="Malgun Gothic" pitchFamily="34" charset="-120"/>
              </a:rPr>
              <a:t>자료 아카이브   </a:t>
            </a:r>
            <a:r>
              <a:rPr lang="en-US" sz="1400" b="1" dirty="0">
                <a:solidFill>
                  <a:srgbClr val="35D399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github.com/z0nam/ji-ai-study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webextensions/_rels/taskpanes.xml.rels><?xml version="1.0" encoding="UTF-8" standalone="yes"?>
<Relationships xmlns="http://schemas.openxmlformats.org/package/2006/relationships"><Relationship Id="rId1" Type="http://schemas.microsoft.com/office/2011/relationships/webextension" Target="webextension1.xml"/></Relationships>
</file>

<file path=ppt/webextensions/taskpanes.xml><?xml version="1.0" encoding="utf-8"?>
<wetp:taskpanes xmlns:wetp="http://schemas.microsoft.com/office/webextensions/taskpanes/2010/11">
  <wetp:taskpane dockstate="right" visibility="0" width="350" row="0">
    <wetp:webextensionref xmlns:r="http://schemas.openxmlformats.org/officeDocument/2006/relationships" r:id="rId1"/>
  </wetp:taskpane>
</wetp:taskpanes>
</file>

<file path=ppt/webextensions/webextension1.xml><?xml version="1.0" encoding="utf-8"?>
<we:webextension xmlns:we="http://schemas.microsoft.com/office/webextensions/webextension/2010/11" id="{199111D0-E286-0846-8ABF-00F10F34B9D0}">
  <we:reference id="wa200010001" version="1.0.0.1" store="en-US" storeType="OMEX"/>
  <we:alternateReferences>
    <we:reference id="WA200010001" version="1.0.0.1" store="WA200010001" storeType="OMEX"/>
  </we:alternateReferences>
  <we:properties>
    <we:property name="claude.fileId" value="&quot;9f608c92-5abc-4468-bc89-bce62fc376db&quot;"/>
  </we:properties>
  <we:bindings/>
  <we:snapshot xmlns:r="http://schemas.openxmlformats.org/officeDocument/2006/relationships"/>
</we:webextension>
</file>

<file path=docProps/app.xml><?xml version="1.0" encoding="utf-8"?>
<Properties xmlns="http://schemas.openxmlformats.org/officeDocument/2006/extended-properties" xmlns:vt="http://schemas.openxmlformats.org/officeDocument/2006/docPropsVTypes">
  <TotalTime>43</TotalTime>
  <Words>1469</Words>
  <Application>Microsoft Macintosh PowerPoint</Application>
  <PresentationFormat>On-screen Show (16:9)</PresentationFormat>
  <Paragraphs>272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9" baseType="lpstr">
      <vt:lpstr>Malgun Gothic</vt:lpstr>
      <vt:lpstr>Arial</vt:lpstr>
      <vt:lpstr>Courier New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채팅창을 넘어서: CLI 기반 AI 에이전트 입문</dc:title>
  <dc:subject>PptxGenJS Presentation</dc:subject>
  <dc:creator>조남운</dc:creator>
  <cp:lastModifiedBy>조남운</cp:lastModifiedBy>
  <cp:revision>3</cp:revision>
  <dcterms:created xsi:type="dcterms:W3CDTF">2026-07-09T03:17:47Z</dcterms:created>
  <dcterms:modified xsi:type="dcterms:W3CDTF">2026-07-09T07:08:13Z</dcterms:modified>
</cp:coreProperties>
</file>